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67" r:id="rId2"/>
    <p:sldId id="256" r:id="rId3"/>
    <p:sldId id="26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353" autoAdjust="0"/>
  </p:normalViewPr>
  <p:slideViewPr>
    <p:cSldViewPr snapToGrid="0">
      <p:cViewPr varScale="1">
        <p:scale>
          <a:sx n="69" d="100"/>
          <a:sy n="69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F355-09A7-4207-B95A-10A9FED6A9E7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1EA1-5725-4F16-B08C-5E746216D8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675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F355-09A7-4207-B95A-10A9FED6A9E7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1EA1-5725-4F16-B08C-5E746216D8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065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F355-09A7-4207-B95A-10A9FED6A9E7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1EA1-5725-4F16-B08C-5E746216D8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195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F355-09A7-4207-B95A-10A9FED6A9E7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1EA1-5725-4F16-B08C-5E746216D8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753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F355-09A7-4207-B95A-10A9FED6A9E7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1EA1-5725-4F16-B08C-5E746216D8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08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F355-09A7-4207-B95A-10A9FED6A9E7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1EA1-5725-4F16-B08C-5E746216D8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930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F355-09A7-4207-B95A-10A9FED6A9E7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1EA1-5725-4F16-B08C-5E746216D8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40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F355-09A7-4207-B95A-10A9FED6A9E7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1EA1-5725-4F16-B08C-5E746216D8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490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F355-09A7-4207-B95A-10A9FED6A9E7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1EA1-5725-4F16-B08C-5E746216D8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282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F355-09A7-4207-B95A-10A9FED6A9E7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1EA1-5725-4F16-B08C-5E746216D8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498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F355-09A7-4207-B95A-10A9FED6A9E7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1EA1-5725-4F16-B08C-5E746216D8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032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A1F355-09A7-4207-B95A-10A9FED6A9E7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B1EA1-5725-4F16-B08C-5E746216D8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526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74668" y="392183"/>
            <a:ext cx="8619309" cy="623068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013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974668" y="392183"/>
            <a:ext cx="8619309" cy="6230685"/>
          </a:xfrm>
          <a:prstGeom prst="rect">
            <a:avLst/>
          </a:prstGeom>
          <a:blipFill dpi="0" rotWithShape="1">
            <a:blip r:embed="rId2">
              <a:alphaModFix amt="16000"/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9450" y="1515291"/>
            <a:ext cx="11173097" cy="2387600"/>
          </a:xfrm>
        </p:spPr>
        <p:txBody>
          <a:bodyPr>
            <a:normAutofit/>
          </a:bodyPr>
          <a:lstStyle/>
          <a:p>
            <a:r>
              <a:rPr lang="en-IN" sz="4400" dirty="0" smtClean="0">
                <a:solidFill>
                  <a:schemeClr val="accent5">
                    <a:lumMod val="50000"/>
                  </a:schemeClr>
                </a:solidFill>
                <a:latin typeface="Cooper Black" panose="0208090404030B020404" pitchFamily="18" charset="0"/>
              </a:rPr>
              <a:t>AI-Based crop disease detection system (</a:t>
            </a:r>
            <a:r>
              <a:rPr lang="en-IN" sz="4400" dirty="0" err="1" smtClean="0">
                <a:solidFill>
                  <a:schemeClr val="accent5">
                    <a:lumMod val="50000"/>
                  </a:schemeClr>
                </a:solidFill>
                <a:latin typeface="Cooper Black" panose="0208090404030B020404" pitchFamily="18" charset="0"/>
              </a:rPr>
              <a:t>Plantix</a:t>
            </a:r>
            <a:r>
              <a:rPr lang="en-IN" sz="4400" dirty="0" smtClean="0">
                <a:solidFill>
                  <a:schemeClr val="accent5">
                    <a:lumMod val="50000"/>
                  </a:schemeClr>
                </a:solidFill>
                <a:latin typeface="Cooper Black" panose="0208090404030B020404" pitchFamily="18" charset="0"/>
              </a:rPr>
              <a:t> app)</a:t>
            </a:r>
            <a:endParaRPr lang="en-IN" sz="4400" dirty="0">
              <a:solidFill>
                <a:schemeClr val="accent5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7489" y="-208709"/>
            <a:ext cx="4762325" cy="158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6839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74668" y="392183"/>
            <a:ext cx="8619309" cy="6230685"/>
          </a:xfrm>
          <a:prstGeom prst="rect">
            <a:avLst/>
          </a:prstGeom>
          <a:blipFill dpi="0" rotWithShape="1">
            <a:blip r:embed="rId2">
              <a:alphaModFix amt="16000"/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accent5">
                    <a:lumMod val="50000"/>
                  </a:schemeClr>
                </a:solidFill>
                <a:latin typeface="Cooper Black" panose="0208090404030B020404" pitchFamily="18" charset="0"/>
              </a:rPr>
              <a:t>Introduction:-</a:t>
            </a:r>
            <a:endParaRPr lang="en-IN" dirty="0">
              <a:solidFill>
                <a:schemeClr val="accent5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>
                <a:latin typeface="Berlin Sans FB" panose="020E0602020502020306" pitchFamily="34" charset="0"/>
              </a:rPr>
              <a:t>Agriculture is important for food production.</a:t>
            </a:r>
          </a:p>
          <a:p>
            <a:r>
              <a:rPr lang="en-IN" dirty="0" smtClean="0">
                <a:latin typeface="Berlin Sans FB" panose="020E0602020502020306" pitchFamily="34" charset="0"/>
              </a:rPr>
              <a:t>Crop disease reduce quality and yield.</a:t>
            </a:r>
          </a:p>
          <a:p>
            <a:r>
              <a:rPr lang="en-IN" dirty="0" smtClean="0">
                <a:latin typeface="Berlin Sans FB" panose="020E0602020502020306" pitchFamily="34" charset="0"/>
              </a:rPr>
              <a:t>AI helps to detect plant disease early.</a:t>
            </a:r>
          </a:p>
          <a:p>
            <a:r>
              <a:rPr lang="en-IN" dirty="0" err="1" smtClean="0">
                <a:latin typeface="Berlin Sans FB" panose="020E0602020502020306" pitchFamily="34" charset="0"/>
              </a:rPr>
              <a:t>Plantix</a:t>
            </a:r>
            <a:r>
              <a:rPr lang="en-IN" dirty="0" smtClean="0">
                <a:latin typeface="Berlin Sans FB" panose="020E0602020502020306" pitchFamily="34" charset="0"/>
              </a:rPr>
              <a:t> is an app that support farmers.</a:t>
            </a:r>
            <a:endParaRPr lang="en-IN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36625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74668" y="392183"/>
            <a:ext cx="8619309" cy="6230685"/>
          </a:xfrm>
          <a:prstGeom prst="rect">
            <a:avLst/>
          </a:prstGeom>
          <a:blipFill dpi="0" rotWithShape="1">
            <a:blip r:embed="rId2">
              <a:alphaModFix amt="16000"/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accent5">
                    <a:lumMod val="50000"/>
                  </a:schemeClr>
                </a:solidFill>
                <a:latin typeface="Cooper Black" panose="0208090404030B020404" pitchFamily="18" charset="0"/>
              </a:rPr>
              <a:t>Problem faced by farmers:-</a:t>
            </a:r>
            <a:endParaRPr lang="en-IN" dirty="0">
              <a:solidFill>
                <a:schemeClr val="accent5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>
                <a:latin typeface="Berlin Sans FB" panose="020E0602020502020306" pitchFamily="34" charset="0"/>
              </a:rPr>
              <a:t>Difficult to identify disease manually</a:t>
            </a:r>
          </a:p>
          <a:p>
            <a:r>
              <a:rPr lang="en-IN" dirty="0" smtClean="0">
                <a:latin typeface="Berlin Sans FB" panose="020E0602020502020306" pitchFamily="34" charset="0"/>
              </a:rPr>
              <a:t>Delay in treatment</a:t>
            </a:r>
          </a:p>
          <a:p>
            <a:r>
              <a:rPr lang="en-IN" dirty="0" smtClean="0">
                <a:latin typeface="Berlin Sans FB" panose="020E0602020502020306" pitchFamily="34" charset="0"/>
              </a:rPr>
              <a:t>Crop loss</a:t>
            </a:r>
          </a:p>
          <a:p>
            <a:r>
              <a:rPr lang="en-IN" dirty="0" smtClean="0">
                <a:latin typeface="Berlin Sans FB" panose="020E0602020502020306" pitchFamily="34" charset="0"/>
              </a:rPr>
              <a:t>Need fro expert guidance</a:t>
            </a:r>
            <a:endParaRPr lang="en-IN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57549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74668" y="392183"/>
            <a:ext cx="8619309" cy="6230685"/>
          </a:xfrm>
          <a:prstGeom prst="rect">
            <a:avLst/>
          </a:prstGeom>
          <a:blipFill dpi="0" rotWithShape="1">
            <a:blip r:embed="rId2">
              <a:alphaModFix amt="16000"/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accent5">
                    <a:lumMod val="50000"/>
                  </a:schemeClr>
                </a:solidFill>
                <a:latin typeface="Cooper Black" panose="0208090404030B020404" pitchFamily="18" charset="0"/>
              </a:rPr>
              <a:t>Objective:-</a:t>
            </a:r>
            <a:endParaRPr lang="en-IN" dirty="0">
              <a:solidFill>
                <a:schemeClr val="accent5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>
                <a:latin typeface="Berlin Sans FB" panose="020E0602020502020306" pitchFamily="34" charset="0"/>
              </a:rPr>
              <a:t>Study how AI helps to detect crop diseases.</a:t>
            </a:r>
          </a:p>
          <a:p>
            <a:r>
              <a:rPr lang="en-IN" dirty="0" smtClean="0">
                <a:latin typeface="Berlin Sans FB" panose="020E0602020502020306" pitchFamily="34" charset="0"/>
              </a:rPr>
              <a:t>Understand </a:t>
            </a:r>
            <a:r>
              <a:rPr lang="en-IN" dirty="0" err="1" smtClean="0">
                <a:latin typeface="Berlin Sans FB" panose="020E0602020502020306" pitchFamily="34" charset="0"/>
              </a:rPr>
              <a:t>Plantix</a:t>
            </a:r>
            <a:r>
              <a:rPr lang="en-IN" dirty="0" smtClean="0">
                <a:latin typeface="Berlin Sans FB" panose="020E0602020502020306" pitchFamily="34" charset="0"/>
              </a:rPr>
              <a:t> app features.</a:t>
            </a:r>
          </a:p>
          <a:p>
            <a:r>
              <a:rPr lang="en-IN" dirty="0" smtClean="0">
                <a:latin typeface="Berlin Sans FB" panose="020E0602020502020306" pitchFamily="34" charset="0"/>
              </a:rPr>
              <a:t>Explore benefits of digital agriculture</a:t>
            </a:r>
            <a:endParaRPr lang="en-IN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327426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74668" y="392183"/>
            <a:ext cx="8619309" cy="6230685"/>
          </a:xfrm>
          <a:prstGeom prst="rect">
            <a:avLst/>
          </a:prstGeom>
          <a:blipFill dpi="0" rotWithShape="1">
            <a:blip r:embed="rId2">
              <a:alphaModFix amt="16000"/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accent5">
                    <a:lumMod val="50000"/>
                  </a:schemeClr>
                </a:solidFill>
                <a:latin typeface="Cooper Black" panose="0208090404030B020404" pitchFamily="18" charset="0"/>
              </a:rPr>
              <a:t>About </a:t>
            </a:r>
            <a:r>
              <a:rPr lang="en-IN" dirty="0" err="1" smtClean="0">
                <a:solidFill>
                  <a:schemeClr val="accent5">
                    <a:lumMod val="50000"/>
                  </a:schemeClr>
                </a:solidFill>
                <a:latin typeface="Cooper Black" panose="0208090404030B020404" pitchFamily="18" charset="0"/>
              </a:rPr>
              <a:t>Plantix</a:t>
            </a:r>
            <a:r>
              <a:rPr lang="en-IN" dirty="0" smtClean="0">
                <a:solidFill>
                  <a:schemeClr val="accent5">
                    <a:lumMod val="50000"/>
                  </a:schemeClr>
                </a:solidFill>
                <a:latin typeface="Cooper Black" panose="0208090404030B020404" pitchFamily="18" charset="0"/>
              </a:rPr>
              <a:t> app:-</a:t>
            </a:r>
            <a:endParaRPr lang="en-IN" dirty="0">
              <a:solidFill>
                <a:schemeClr val="accent5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 smtClean="0">
                <a:latin typeface="Berlin Sans FB" panose="020E0602020502020306" pitchFamily="34" charset="0"/>
              </a:rPr>
              <a:t>Plantix</a:t>
            </a:r>
            <a:r>
              <a:rPr lang="en-IN" dirty="0" smtClean="0">
                <a:latin typeface="Berlin Sans FB" panose="020E0602020502020306" pitchFamily="34" charset="0"/>
              </a:rPr>
              <a:t> is an AI-powered mobile application that helps farmers to identify crop diseases by analysing plant images and providing treatment recommendations.</a:t>
            </a:r>
          </a:p>
          <a:p>
            <a:pPr marL="0" indent="0">
              <a:buNone/>
            </a:pPr>
            <a:r>
              <a:rPr lang="en-IN" dirty="0" err="1" smtClean="0">
                <a:latin typeface="Berlin Sans FB" panose="020E0602020502020306" pitchFamily="34" charset="0"/>
              </a:rPr>
              <a:t>Plantix</a:t>
            </a:r>
            <a:r>
              <a:rPr lang="en-IN" dirty="0" smtClean="0">
                <a:latin typeface="Berlin Sans FB" panose="020E0602020502020306" pitchFamily="34" charset="0"/>
              </a:rPr>
              <a:t> is available on Google </a:t>
            </a:r>
            <a:r>
              <a:rPr lang="en-IN" dirty="0" err="1" smtClean="0">
                <a:latin typeface="Berlin Sans FB" panose="020E0602020502020306" pitchFamily="34" charset="0"/>
              </a:rPr>
              <a:t>Playstore</a:t>
            </a:r>
            <a:r>
              <a:rPr lang="en-IN" dirty="0" smtClean="0">
                <a:latin typeface="Berlin Sans FB" panose="020E0602020502020306" pitchFamily="34" charset="0"/>
              </a:rPr>
              <a:t> and also their own website.</a:t>
            </a:r>
          </a:p>
        </p:txBody>
      </p:sp>
    </p:spTree>
    <p:extLst>
      <p:ext uri="{BB962C8B-B14F-4D97-AF65-F5344CB8AC3E}">
        <p14:creationId xmlns:p14="http://schemas.microsoft.com/office/powerpoint/2010/main" val="241864017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74668" y="431371"/>
            <a:ext cx="8619309" cy="6230685"/>
          </a:xfrm>
          <a:prstGeom prst="rect">
            <a:avLst/>
          </a:prstGeom>
          <a:blipFill dpi="0" rotWithShape="1">
            <a:blip r:embed="rId2">
              <a:alphaModFix amt="16000"/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accent5">
                    <a:lumMod val="50000"/>
                  </a:schemeClr>
                </a:solidFill>
                <a:latin typeface="Cooper Black" panose="0208090404030B020404" pitchFamily="18" charset="0"/>
              </a:rPr>
              <a:t>How system works:-</a:t>
            </a:r>
            <a:endParaRPr lang="en-IN" dirty="0">
              <a:solidFill>
                <a:schemeClr val="accent5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8823"/>
            <a:ext cx="3616234" cy="4351338"/>
          </a:xfrm>
        </p:spPr>
        <p:txBody>
          <a:bodyPr/>
          <a:lstStyle/>
          <a:p>
            <a:r>
              <a:rPr lang="en-IN" dirty="0" smtClean="0">
                <a:latin typeface="Berlin Sans FB" panose="020E0602020502020306" pitchFamily="34" charset="0"/>
              </a:rPr>
              <a:t>Process:-</a:t>
            </a:r>
          </a:p>
          <a:p>
            <a:pPr marL="571500" indent="-571500">
              <a:buAutoNum type="romanLcPeriod"/>
            </a:pPr>
            <a:r>
              <a:rPr lang="en-IN" dirty="0" smtClean="0">
                <a:latin typeface="Berlin Sans FB" panose="020E0602020502020306" pitchFamily="34" charset="0"/>
              </a:rPr>
              <a:t>Capture image</a:t>
            </a:r>
          </a:p>
          <a:p>
            <a:pPr marL="571500" indent="-571500">
              <a:buAutoNum type="romanLcPeriod"/>
            </a:pPr>
            <a:r>
              <a:rPr lang="en-IN" dirty="0" smtClean="0">
                <a:latin typeface="Berlin Sans FB" panose="020E0602020502020306" pitchFamily="34" charset="0"/>
              </a:rPr>
              <a:t>Upload</a:t>
            </a:r>
          </a:p>
          <a:p>
            <a:pPr marL="571500" indent="-571500">
              <a:buAutoNum type="romanLcPeriod"/>
            </a:pPr>
            <a:r>
              <a:rPr lang="en-IN" dirty="0" smtClean="0">
                <a:latin typeface="Berlin Sans FB" panose="020E0602020502020306" pitchFamily="34" charset="0"/>
              </a:rPr>
              <a:t>AI analysis</a:t>
            </a:r>
          </a:p>
          <a:p>
            <a:pPr marL="571500" indent="-571500">
              <a:buAutoNum type="romanLcPeriod"/>
            </a:pPr>
            <a:r>
              <a:rPr lang="en-IN" dirty="0" smtClean="0">
                <a:latin typeface="Berlin Sans FB" panose="020E0602020502020306" pitchFamily="34" charset="0"/>
              </a:rPr>
              <a:t>Disease detection</a:t>
            </a:r>
          </a:p>
          <a:p>
            <a:pPr marL="571500" indent="-571500">
              <a:buAutoNum type="romanLcPeriod"/>
            </a:pPr>
            <a:r>
              <a:rPr lang="en-IN" dirty="0" smtClean="0">
                <a:latin typeface="Berlin Sans FB" panose="020E0602020502020306" pitchFamily="34" charset="0"/>
              </a:rPr>
              <a:t>recommendation</a:t>
            </a:r>
            <a:endParaRPr lang="en-IN" dirty="0">
              <a:latin typeface="Berlin Sans FB" panose="020E0602020502020306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035" y="1476365"/>
            <a:ext cx="5459854" cy="449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3288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74668" y="392183"/>
            <a:ext cx="8619309" cy="6230685"/>
          </a:xfrm>
          <a:prstGeom prst="rect">
            <a:avLst/>
          </a:prstGeom>
          <a:blipFill dpi="0" rotWithShape="1">
            <a:blip r:embed="rId2">
              <a:alphaModFix amt="16000"/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45" t="57980" r="8389" b="23232"/>
          <a:stretch/>
        </p:blipFill>
        <p:spPr>
          <a:xfrm>
            <a:off x="720831" y="392183"/>
            <a:ext cx="2922914" cy="1501828"/>
          </a:xfrm>
          <a:prstGeom prst="rect">
            <a:avLst/>
          </a:prstGeom>
        </p:spPr>
      </p:pic>
      <p:sp>
        <p:nvSpPr>
          <p:cNvPr id="8" name="Down Arrow 7"/>
          <p:cNvSpPr/>
          <p:nvPr/>
        </p:nvSpPr>
        <p:spPr>
          <a:xfrm>
            <a:off x="1974668" y="2020910"/>
            <a:ext cx="374073" cy="69272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77" b="12122"/>
          <a:stretch/>
        </p:blipFill>
        <p:spPr>
          <a:xfrm>
            <a:off x="758612" y="2840537"/>
            <a:ext cx="2806183" cy="378233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3896711" y="5444528"/>
            <a:ext cx="408467" cy="70719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44" b="11919"/>
          <a:stretch/>
        </p:blipFill>
        <p:spPr>
          <a:xfrm>
            <a:off x="4547087" y="1894011"/>
            <a:ext cx="3140325" cy="4628641"/>
          </a:xfrm>
          <a:prstGeom prst="rect">
            <a:avLst/>
          </a:prstGeom>
        </p:spPr>
      </p:pic>
      <p:sp>
        <p:nvSpPr>
          <p:cNvPr id="12" name="Down Arrow 11"/>
          <p:cNvSpPr/>
          <p:nvPr/>
        </p:nvSpPr>
        <p:spPr>
          <a:xfrm rot="16017613">
            <a:off x="7948714" y="5450857"/>
            <a:ext cx="374073" cy="69272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839"/>
          <a:stretch/>
        </p:blipFill>
        <p:spPr>
          <a:xfrm>
            <a:off x="8718662" y="2624609"/>
            <a:ext cx="3063127" cy="3851564"/>
          </a:xfrm>
          <a:prstGeom prst="rect">
            <a:avLst/>
          </a:prstGeom>
        </p:spPr>
      </p:pic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5261583" y="0"/>
            <a:ext cx="3120417" cy="1511798"/>
          </a:xfrm>
        </p:spPr>
        <p:txBody>
          <a:bodyPr/>
          <a:lstStyle/>
          <a:p>
            <a:r>
              <a:rPr lang="en-IN" dirty="0" smtClean="0">
                <a:solidFill>
                  <a:srgbClr val="002060"/>
                </a:solidFill>
                <a:latin typeface="Cooper Black" panose="0208090404030B020404" pitchFamily="18" charset="0"/>
              </a:rPr>
              <a:t>Process </a:t>
            </a:r>
            <a:endParaRPr lang="en-IN" dirty="0">
              <a:solidFill>
                <a:srgbClr val="002060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7316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74668" y="392183"/>
            <a:ext cx="8619309" cy="6230685"/>
          </a:xfrm>
          <a:prstGeom prst="rect">
            <a:avLst/>
          </a:prstGeom>
          <a:blipFill dpi="0" rotWithShape="1">
            <a:blip r:embed="rId2">
              <a:alphaModFix amt="16000"/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2060"/>
                </a:solidFill>
                <a:latin typeface="Cooper Black" panose="0208090404030B020404" pitchFamily="18" charset="0"/>
              </a:rPr>
              <a:t>Technologies Used:-</a:t>
            </a:r>
            <a:endParaRPr lang="en-IN" dirty="0">
              <a:solidFill>
                <a:srgbClr val="002060"/>
              </a:solidFill>
              <a:latin typeface="Cooper Black" panose="0208090404030B0204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>
                <a:latin typeface="Berlin Sans FB" panose="020E0602020502020306" pitchFamily="34" charset="0"/>
              </a:rPr>
              <a:t>Artificial Intelligence (AI):- to identify crop disease.</a:t>
            </a:r>
            <a:endParaRPr lang="en-IN" dirty="0">
              <a:latin typeface="Berlin Sans FB" panose="020E0602020502020306" pitchFamily="34" charset="0"/>
            </a:endParaRPr>
          </a:p>
          <a:p>
            <a:r>
              <a:rPr lang="en-IN" dirty="0" smtClean="0">
                <a:latin typeface="Berlin Sans FB" panose="020E0602020502020306" pitchFamily="34" charset="0"/>
              </a:rPr>
              <a:t>Image Processing:-To analyse plant leaf images.</a:t>
            </a:r>
          </a:p>
          <a:p>
            <a:r>
              <a:rPr lang="en-IN" dirty="0" smtClean="0">
                <a:latin typeface="Berlin Sans FB" panose="020E0602020502020306" pitchFamily="34" charset="0"/>
              </a:rPr>
              <a:t>Machine Learning:- To improve detection accuracy.</a:t>
            </a:r>
          </a:p>
          <a:p>
            <a:r>
              <a:rPr lang="en-IN" dirty="0" smtClean="0">
                <a:latin typeface="Berlin Sans FB" panose="020E0602020502020306" pitchFamily="34" charset="0"/>
              </a:rPr>
              <a:t>Mobile Application Technologies:- For farmers access through                         smartphones.</a:t>
            </a:r>
          </a:p>
          <a:p>
            <a:r>
              <a:rPr lang="en-IN" dirty="0" smtClean="0">
                <a:latin typeface="Berlin Sans FB" panose="020E0602020502020306" pitchFamily="34" charset="0"/>
              </a:rPr>
              <a:t>Cloud Database:- To store and process agriculture data.</a:t>
            </a:r>
          </a:p>
        </p:txBody>
      </p:sp>
    </p:spTree>
    <p:extLst>
      <p:ext uri="{BB962C8B-B14F-4D97-AF65-F5344CB8AC3E}">
        <p14:creationId xmlns:p14="http://schemas.microsoft.com/office/powerpoint/2010/main" val="111447347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74668" y="392183"/>
            <a:ext cx="8619309" cy="6230685"/>
          </a:xfrm>
          <a:prstGeom prst="rect">
            <a:avLst/>
          </a:prstGeom>
          <a:blipFill dpi="0" rotWithShape="1">
            <a:blip r:embed="rId2">
              <a:alphaModFix amt="16000"/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2060"/>
                </a:solidFill>
                <a:latin typeface="Cooper Black" panose="0208090404030B020404" pitchFamily="18" charset="0"/>
              </a:rPr>
              <a:t>Features of </a:t>
            </a:r>
            <a:r>
              <a:rPr lang="en-IN" dirty="0" err="1" smtClean="0">
                <a:solidFill>
                  <a:srgbClr val="002060"/>
                </a:solidFill>
                <a:latin typeface="Cooper Black" panose="0208090404030B020404" pitchFamily="18" charset="0"/>
              </a:rPr>
              <a:t>Plantix</a:t>
            </a:r>
            <a:r>
              <a:rPr lang="en-IN" dirty="0" smtClean="0">
                <a:solidFill>
                  <a:srgbClr val="002060"/>
                </a:solidFill>
                <a:latin typeface="Cooper Black" panose="0208090404030B020404" pitchFamily="18" charset="0"/>
              </a:rPr>
              <a:t>:-</a:t>
            </a:r>
            <a:endParaRPr lang="en-IN" dirty="0">
              <a:solidFill>
                <a:srgbClr val="002060"/>
              </a:solidFill>
              <a:latin typeface="Cooper Black" panose="0208090404030B0204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>
                <a:latin typeface="Berlin Sans FB" panose="020E0602020502020306" pitchFamily="34" charset="0"/>
              </a:rPr>
              <a:t>Disease identification</a:t>
            </a:r>
          </a:p>
          <a:p>
            <a:r>
              <a:rPr lang="en-IN" dirty="0" smtClean="0">
                <a:latin typeface="Berlin Sans FB" panose="020E0602020502020306" pitchFamily="34" charset="0"/>
              </a:rPr>
              <a:t>Fertilizer</a:t>
            </a:r>
          </a:p>
          <a:p>
            <a:r>
              <a:rPr lang="en-IN" dirty="0" smtClean="0">
                <a:latin typeface="Berlin Sans FB" panose="020E0602020502020306" pitchFamily="34" charset="0"/>
              </a:rPr>
              <a:t>Crop management tips</a:t>
            </a:r>
          </a:p>
          <a:p>
            <a:r>
              <a:rPr lang="en-IN" dirty="0" smtClean="0">
                <a:latin typeface="Berlin Sans FB" panose="020E0602020502020306" pitchFamily="34" charset="0"/>
              </a:rPr>
              <a:t>Farmer support</a:t>
            </a:r>
            <a:endParaRPr lang="en-IN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95039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74668" y="392183"/>
            <a:ext cx="8619309" cy="6230685"/>
          </a:xfrm>
          <a:prstGeom prst="rect">
            <a:avLst/>
          </a:prstGeom>
          <a:blipFill dpi="0" rotWithShape="1">
            <a:blip r:embed="rId2">
              <a:alphaModFix amt="16000"/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2060"/>
                </a:solidFill>
                <a:latin typeface="Cooper Black" panose="0208090404030B020404" pitchFamily="18" charset="0"/>
              </a:rPr>
              <a:t>Advantages:-</a:t>
            </a:r>
            <a:endParaRPr lang="en-IN" dirty="0">
              <a:solidFill>
                <a:srgbClr val="002060"/>
              </a:solidFill>
              <a:latin typeface="Cooper Black" panose="0208090404030B0204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Berlin Sans FB" panose="020E0602020502020306" pitchFamily="34" charset="0"/>
              </a:rPr>
              <a:t>Fast disease detection</a:t>
            </a:r>
          </a:p>
          <a:p>
            <a:r>
              <a:rPr lang="en-IN" dirty="0">
                <a:latin typeface="Berlin Sans FB" panose="020E0602020502020306" pitchFamily="34" charset="0"/>
              </a:rPr>
              <a:t>Help increase productivity</a:t>
            </a:r>
          </a:p>
          <a:p>
            <a:r>
              <a:rPr lang="en-IN" dirty="0">
                <a:latin typeface="Berlin Sans FB" panose="020E0602020502020306" pitchFamily="34" charset="0"/>
              </a:rPr>
              <a:t>Reduce crop </a:t>
            </a:r>
            <a:r>
              <a:rPr lang="en-IN" dirty="0" smtClean="0">
                <a:latin typeface="Berlin Sans FB" panose="020E0602020502020306" pitchFamily="34" charset="0"/>
              </a:rPr>
              <a:t>damage</a:t>
            </a:r>
          </a:p>
          <a:p>
            <a:r>
              <a:rPr lang="en-IN" dirty="0" smtClean="0">
                <a:latin typeface="Berlin Sans FB" panose="020E0602020502020306" pitchFamily="34" charset="0"/>
              </a:rPr>
              <a:t>Cost </a:t>
            </a:r>
            <a:r>
              <a:rPr lang="en-IN" dirty="0" err="1" smtClean="0">
                <a:latin typeface="Berlin Sans FB" panose="020E0602020502020306" pitchFamily="34" charset="0"/>
              </a:rPr>
              <a:t>effectiv</a:t>
            </a:r>
            <a:endParaRPr lang="en-IN" dirty="0">
              <a:latin typeface="Berlin Sans FB" panose="020E0602020502020306" pitchFamily="34" charset="0"/>
            </a:endParaRPr>
          </a:p>
          <a:p>
            <a:r>
              <a:rPr lang="en-IN" dirty="0">
                <a:latin typeface="Berlin Sans FB" panose="020E0602020502020306" pitchFamily="34" charset="0"/>
              </a:rPr>
              <a:t>Easy to use</a:t>
            </a:r>
            <a:endParaRPr lang="en-IN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7992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74668" y="392183"/>
            <a:ext cx="8619309" cy="6230685"/>
          </a:xfrm>
          <a:prstGeom prst="rect">
            <a:avLst/>
          </a:prstGeom>
          <a:blipFill dpi="0" rotWithShape="1">
            <a:blip r:embed="rId2">
              <a:alphaModFix amt="16000"/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2060"/>
                </a:solidFill>
                <a:latin typeface="Cooper Black" panose="0208090404030B020404" pitchFamily="18" charset="0"/>
              </a:rPr>
              <a:t>Limitation:-</a:t>
            </a:r>
            <a:endParaRPr lang="en-IN" dirty="0">
              <a:solidFill>
                <a:srgbClr val="002060"/>
              </a:solidFill>
              <a:latin typeface="Cooper Black" panose="0208090404030B0204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>
                <a:latin typeface="Cooper Black" panose="0208090404030B020404" pitchFamily="18" charset="0"/>
              </a:rPr>
              <a:t>Requires internet</a:t>
            </a:r>
          </a:p>
          <a:p>
            <a:r>
              <a:rPr lang="en-IN" dirty="0" smtClean="0">
                <a:latin typeface="Cooper Black" panose="0208090404030B020404" pitchFamily="18" charset="0"/>
              </a:rPr>
              <a:t>Detection accuracy depends on image quality</a:t>
            </a:r>
          </a:p>
          <a:p>
            <a:r>
              <a:rPr lang="en-IN" dirty="0" smtClean="0">
                <a:latin typeface="Cooper Black" panose="0208090404030B020404" pitchFamily="18" charset="0"/>
              </a:rPr>
              <a:t>Not a replacement for expert inspection</a:t>
            </a:r>
            <a:endParaRPr lang="en-IN" dirty="0"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27225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74668" y="392183"/>
            <a:ext cx="8619309" cy="6230685"/>
          </a:xfrm>
          <a:prstGeom prst="rect">
            <a:avLst/>
          </a:prstGeom>
          <a:blipFill dpi="0" rotWithShape="1">
            <a:blip r:embed="rId2">
              <a:alphaModFix amt="16000"/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2060"/>
                </a:solidFill>
                <a:latin typeface="Cooper Black" panose="0208090404030B020404" pitchFamily="18" charset="0"/>
              </a:rPr>
              <a:t>Conclusion:-</a:t>
            </a:r>
            <a:endParaRPr lang="en-IN" dirty="0">
              <a:solidFill>
                <a:srgbClr val="002060"/>
              </a:solidFill>
              <a:latin typeface="Cooper Black" panose="0208090404030B0204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>
                <a:latin typeface="Berlin Sans FB" panose="020E0602020502020306" pitchFamily="34" charset="0"/>
              </a:rPr>
              <a:t>Through this study of </a:t>
            </a:r>
            <a:r>
              <a:rPr lang="en-IN" dirty="0" err="1" smtClean="0">
                <a:latin typeface="Berlin Sans FB" panose="020E0602020502020306" pitchFamily="34" charset="0"/>
              </a:rPr>
              <a:t>Plantix</a:t>
            </a:r>
            <a:r>
              <a:rPr lang="en-IN" dirty="0" smtClean="0">
                <a:latin typeface="Berlin Sans FB" panose="020E0602020502020306" pitchFamily="34" charset="0"/>
              </a:rPr>
              <a:t> application, I explored how Artificial intelligence and image analysis can support early crop disease detection. </a:t>
            </a:r>
          </a:p>
          <a:p>
            <a:pPr marL="0" indent="0">
              <a:buNone/>
            </a:pPr>
            <a:r>
              <a:rPr lang="en-IN" dirty="0" smtClean="0">
                <a:latin typeface="Berlin Sans FB" panose="020E0602020502020306" pitchFamily="34" charset="0"/>
              </a:rPr>
              <a:t>This project improved my understanding of AI applications in agriculture and demonstrated how digital technologies can assist farmers in making informed decisions, improving crop management, and supporting agricultural productivity.</a:t>
            </a:r>
            <a:endParaRPr lang="en-IN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57512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74668" y="392183"/>
            <a:ext cx="8619309" cy="6230685"/>
          </a:xfrm>
          <a:prstGeom prst="rect">
            <a:avLst/>
          </a:prstGeom>
          <a:blipFill dpi="0" rotWithShape="1">
            <a:blip r:embed="rId2">
              <a:alphaModFix amt="16000"/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6127" y="26234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8000" dirty="0" smtClean="0">
                <a:solidFill>
                  <a:srgbClr val="002060"/>
                </a:solidFill>
                <a:latin typeface="Cooper Black" panose="0208090404030B020404" pitchFamily="18" charset="0"/>
              </a:rPr>
              <a:t>Thank you</a:t>
            </a:r>
            <a:endParaRPr lang="en-IN" sz="8000" dirty="0">
              <a:solidFill>
                <a:srgbClr val="002060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7170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</TotalTime>
  <Words>286</Words>
  <Application>Microsoft Office PowerPoint</Application>
  <PresentationFormat>Widescreen</PresentationFormat>
  <Paragraphs>51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Berlin Sans FB</vt:lpstr>
      <vt:lpstr>Calibri</vt:lpstr>
      <vt:lpstr>Calibri Light</vt:lpstr>
      <vt:lpstr>Cooper Black</vt:lpstr>
      <vt:lpstr>Office Theme</vt:lpstr>
      <vt:lpstr>PowerPoint Presentation</vt:lpstr>
      <vt:lpstr>AI-Based crop disease detection system (Plantix app)</vt:lpstr>
      <vt:lpstr>Introduction:-</vt:lpstr>
      <vt:lpstr>Problem faced by farmers:-</vt:lpstr>
      <vt:lpstr>Objective:-</vt:lpstr>
      <vt:lpstr>About Plantix app:-</vt:lpstr>
      <vt:lpstr>How system works:-</vt:lpstr>
      <vt:lpstr>Process </vt:lpstr>
      <vt:lpstr>Technologies Used:-</vt:lpstr>
      <vt:lpstr>Features of Plantix:-</vt:lpstr>
      <vt:lpstr>Advantages:-</vt:lpstr>
      <vt:lpstr>Limitation:-</vt:lpstr>
      <vt:lpstr>Conclusion:-</vt:lpstr>
      <vt:lpstr>Thank you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crop disease detection system (Plantix app)</dc:title>
  <dc:creator>Faizan Khan</dc:creator>
  <cp:lastModifiedBy>Faizan Khan</cp:lastModifiedBy>
  <cp:revision>15</cp:revision>
  <dcterms:created xsi:type="dcterms:W3CDTF">2026-05-26T06:31:35Z</dcterms:created>
  <dcterms:modified xsi:type="dcterms:W3CDTF">2026-05-26T09:35:34Z</dcterms:modified>
</cp:coreProperties>
</file>